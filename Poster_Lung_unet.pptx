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6" r:id="rId2"/>
  </p:sldIdLst>
  <p:sldSz cx="9601200" cy="128016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E7F5"/>
    <a:srgbClr val="0947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C42FA8-E125-4651-A475-E38460080A79}" v="7" dt="2024-08-19T12:52:00.5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40" d="100"/>
          <a:sy n="40" d="100"/>
        </p:scale>
        <p:origin x="25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7C980A-93EA-4D15-805B-5BE36A8A22B7}" type="datetimeFigureOut">
              <a:rPr lang="en-IN" smtClean="0"/>
              <a:t>18-01-2025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665735-18AB-4175-BA3D-C7C971601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4067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65735-18AB-4175-BA3D-C7C971601D9D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23136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0" y="2095078"/>
            <a:ext cx="8161020" cy="4456853"/>
          </a:xfrm>
        </p:spPr>
        <p:txBody>
          <a:bodyPr anchor="b"/>
          <a:lstStyle>
            <a:lvl1pPr algn="ctr">
              <a:defRPr sz="6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6723804"/>
            <a:ext cx="7200900" cy="3090756"/>
          </a:xfrm>
        </p:spPr>
        <p:txBody>
          <a:bodyPr/>
          <a:lstStyle>
            <a:lvl1pPr marL="0" indent="0" algn="ctr">
              <a:buNone/>
              <a:defRPr sz="252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7DC6B-DE8A-4864-AD75-16BC1B94EC5B}" type="datetimeFigureOut">
              <a:rPr lang="en-IN" smtClean="0"/>
              <a:t>18-01-2025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A0134-D686-475D-970D-4C181E1E77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867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7DC6B-DE8A-4864-AD75-16BC1B94EC5B}" type="datetimeFigureOut">
              <a:rPr lang="en-IN" smtClean="0"/>
              <a:t>18-01-2025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A0134-D686-475D-970D-4C181E1E77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5019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3191514"/>
            <a:ext cx="8281035" cy="5325109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8567000"/>
            <a:ext cx="8281035" cy="28003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/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28803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3604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7DC6B-DE8A-4864-AD75-16BC1B94EC5B}" type="datetimeFigureOut">
              <a:rPr lang="en-IN" smtClean="0"/>
              <a:t>18-01-2025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A0134-D686-475D-970D-4C181E1E77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5947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3407833"/>
            <a:ext cx="4080510" cy="81224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3407833"/>
            <a:ext cx="4080510" cy="81224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7DC6B-DE8A-4864-AD75-16BC1B94EC5B}" type="datetimeFigureOut">
              <a:rPr lang="en-IN" smtClean="0"/>
              <a:t>18-01-2025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A0134-D686-475D-970D-4C181E1E77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9878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681570"/>
            <a:ext cx="8281035" cy="247438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3138171"/>
            <a:ext cx="4061757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4676140"/>
            <a:ext cx="4061757" cy="68778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8" y="3138171"/>
            <a:ext cx="4081761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8" y="4676140"/>
            <a:ext cx="4081761" cy="68778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7DC6B-DE8A-4864-AD75-16BC1B94EC5B}" type="datetimeFigureOut">
              <a:rPr lang="en-IN" smtClean="0"/>
              <a:t>18-01-2025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A0134-D686-475D-970D-4C181E1E77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4628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7DC6B-DE8A-4864-AD75-16BC1B94EC5B}" type="datetimeFigureOut">
              <a:rPr lang="en-IN" smtClean="0"/>
              <a:t>18-01-2025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A0134-D686-475D-970D-4C181E1E77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931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7DC6B-DE8A-4864-AD75-16BC1B94EC5B}" type="datetimeFigureOut">
              <a:rPr lang="en-IN" smtClean="0"/>
              <a:t>18-01-2025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A0134-D686-475D-970D-4C181E1E77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6986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1843196"/>
            <a:ext cx="4860608" cy="9097433"/>
          </a:xfr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7DC6B-DE8A-4864-AD75-16BC1B94EC5B}" type="datetimeFigureOut">
              <a:rPr lang="en-IN" smtClean="0"/>
              <a:t>18-01-2025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A0134-D686-475D-970D-4C181E1E77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075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1843196"/>
            <a:ext cx="4860608" cy="9097433"/>
          </a:xfrm>
        </p:spPr>
        <p:txBody>
          <a:bodyPr anchor="t"/>
          <a:lstStyle>
            <a:lvl1pPr marL="0" indent="0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7DC6B-DE8A-4864-AD75-16BC1B94EC5B}" type="datetimeFigureOut">
              <a:rPr lang="en-IN" smtClean="0"/>
              <a:t>18-01-2025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A0134-D686-475D-970D-4C181E1E77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6220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7DC6B-DE8A-4864-AD75-16BC1B94EC5B}" type="datetimeFigureOut">
              <a:rPr lang="en-IN" smtClean="0"/>
              <a:t>18-01-2025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A0134-D686-475D-970D-4C181E1E77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4795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681567"/>
            <a:ext cx="2070259" cy="108487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681567"/>
            <a:ext cx="6090761" cy="108487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7DC6B-DE8A-4864-AD75-16BC1B94EC5B}" type="datetimeFigureOut">
              <a:rPr lang="en-IN" smtClean="0"/>
              <a:t>18-01-2025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A0134-D686-475D-970D-4C181E1E77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5854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681570"/>
            <a:ext cx="8281035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3407833"/>
            <a:ext cx="8281035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37DC6B-DE8A-4864-AD75-16BC1B94EC5B}" type="datetimeFigureOut">
              <a:rPr lang="en-IN" smtClean="0"/>
              <a:t>18-01-2025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1A0134-D686-475D-970D-4C181E1E77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6894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5500">
              <a:srgbClr val="BECEEA"/>
            </a:gs>
            <a:gs pos="37000">
              <a:srgbClr val="D1DCF0">
                <a:lumMod val="93000"/>
                <a:lumOff val="7000"/>
              </a:srgbClr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9000"/>
                <a:lumOff val="51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175AC7C-D70D-9372-11B5-ECB78A89F5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57" y="65314"/>
            <a:ext cx="1809750" cy="102074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6B1829A-7B42-03FC-3CDC-E1FE4D37FB75}"/>
              </a:ext>
            </a:extLst>
          </p:cNvPr>
          <p:cNvSpPr/>
          <p:nvPr/>
        </p:nvSpPr>
        <p:spPr>
          <a:xfrm>
            <a:off x="1842385" y="0"/>
            <a:ext cx="7726136" cy="108606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Image Segmentation in Lung Region Using U-net and Attention Mechanisms for Cancer Prognosis</a:t>
            </a:r>
            <a:endParaRPr lang="en-IN" sz="30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4600CF6-854A-B4A5-A3A5-C3E87C667289}"/>
              </a:ext>
            </a:extLst>
          </p:cNvPr>
          <p:cNvCxnSpPr>
            <a:cxnSpLocks/>
          </p:cNvCxnSpPr>
          <p:nvPr/>
        </p:nvCxnSpPr>
        <p:spPr>
          <a:xfrm>
            <a:off x="4063141" y="1120268"/>
            <a:ext cx="22432" cy="5968628"/>
          </a:xfrm>
          <a:prstGeom prst="line">
            <a:avLst/>
          </a:prstGeom>
          <a:ln w="730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9E7E45E-2799-0E1E-2EFF-0C156B1B592B}"/>
              </a:ext>
            </a:extLst>
          </p:cNvPr>
          <p:cNvCxnSpPr>
            <a:cxnSpLocks/>
          </p:cNvCxnSpPr>
          <p:nvPr/>
        </p:nvCxnSpPr>
        <p:spPr>
          <a:xfrm flipH="1">
            <a:off x="0" y="7070272"/>
            <a:ext cx="4800600" cy="0"/>
          </a:xfrm>
          <a:prstGeom prst="line">
            <a:avLst/>
          </a:prstGeom>
          <a:ln w="730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F883A23-CB94-5DA6-A12D-BEBE5C41D995}"/>
              </a:ext>
            </a:extLst>
          </p:cNvPr>
          <p:cNvSpPr txBox="1"/>
          <p:nvPr/>
        </p:nvSpPr>
        <p:spPr>
          <a:xfrm>
            <a:off x="-23824" y="1120268"/>
            <a:ext cx="40380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INTRODUCTION</a:t>
            </a:r>
            <a:endParaRPr lang="en-IN" sz="20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6D10FE-7560-E989-BC4F-015D85E2B827}"/>
              </a:ext>
            </a:extLst>
          </p:cNvPr>
          <p:cNvSpPr txBox="1"/>
          <p:nvPr/>
        </p:nvSpPr>
        <p:spPr>
          <a:xfrm>
            <a:off x="-37860" y="1748324"/>
            <a:ext cx="408368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900" dirty="0"/>
              <a:t>Lung cancer is the leading cause of cancer-related deaths globally.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900" dirty="0"/>
              <a:t>Early detection is crucial for improving patient outcomes. However, manual segmentation of lung nodules from CT images is time-consuming and prone to human error.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900" dirty="0"/>
              <a:t>To address these challenges, automated image segmentation techniques are useful as they aim to precisely delineate the lung regions and identify potential cancerous lesions.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900" dirty="0"/>
              <a:t>In this project, we propose a hybrid deep neural network approach for image segmentation in the lung region.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C6DE37F-369F-1BF3-50AD-2AC4655551A2}"/>
              </a:ext>
            </a:extLst>
          </p:cNvPr>
          <p:cNvCxnSpPr>
            <a:cxnSpLocks/>
          </p:cNvCxnSpPr>
          <p:nvPr/>
        </p:nvCxnSpPr>
        <p:spPr>
          <a:xfrm flipV="1">
            <a:off x="4120203" y="2834097"/>
            <a:ext cx="5523793" cy="6935"/>
          </a:xfrm>
          <a:prstGeom prst="line">
            <a:avLst/>
          </a:prstGeom>
          <a:ln w="730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EFAF64C-5F8B-8A35-BC8F-E366A7800F57}"/>
              </a:ext>
            </a:extLst>
          </p:cNvPr>
          <p:cNvSpPr txBox="1"/>
          <p:nvPr/>
        </p:nvSpPr>
        <p:spPr>
          <a:xfrm>
            <a:off x="4048876" y="1021090"/>
            <a:ext cx="5533911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Image Segmentation:</a:t>
            </a: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900" dirty="0"/>
              <a:t>The process of partitioning an image into meaningful segments or regions.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900" dirty="0"/>
              <a:t>Essential for medical image analysis, enabling precise localization of anatomical structures and lesions.</a:t>
            </a:r>
            <a:endParaRPr lang="en-IN" sz="1900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4B61341-3C55-2E9A-37C0-D1B03A0EFB0D}"/>
              </a:ext>
            </a:extLst>
          </p:cNvPr>
          <p:cNvCxnSpPr>
            <a:cxnSpLocks/>
          </p:cNvCxnSpPr>
          <p:nvPr/>
        </p:nvCxnSpPr>
        <p:spPr>
          <a:xfrm>
            <a:off x="4784255" y="7074156"/>
            <a:ext cx="4800611" cy="29480"/>
          </a:xfrm>
          <a:prstGeom prst="line">
            <a:avLst/>
          </a:prstGeom>
          <a:ln w="730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49A29FA-A266-D552-C55E-372C5DD66BDF}"/>
              </a:ext>
            </a:extLst>
          </p:cNvPr>
          <p:cNvSpPr txBox="1"/>
          <p:nvPr/>
        </p:nvSpPr>
        <p:spPr>
          <a:xfrm>
            <a:off x="4085573" y="4869124"/>
            <a:ext cx="5544157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U-net and Attention Mechanisms:</a:t>
            </a:r>
            <a:endParaRPr lang="en-IN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900" dirty="0"/>
              <a:t>The model integrates the U-Net architecture, known for its effectiveness in medical image segmentation, with attention mechanisms.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900" dirty="0"/>
              <a:t>This combination allows the model to capture detailed spatial information and also to focus on the most relevant parts of the image.</a:t>
            </a:r>
          </a:p>
          <a:p>
            <a:endParaRPr lang="en-IN" sz="2000" b="1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4FF4451-69E6-B219-A34C-5355C3A086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5" y="7127280"/>
            <a:ext cx="5243332" cy="3150799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DC643150-112F-96DD-AA60-5DDC6292C3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1940" y="7123103"/>
            <a:ext cx="4357867" cy="3150797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F3EB60B-B337-B282-0638-46BDAC7A34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7407" y="2847185"/>
            <a:ext cx="5552324" cy="2024047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3816FCC-4BC9-8FC4-43C1-5FE0DAC35272}"/>
              </a:ext>
            </a:extLst>
          </p:cNvPr>
          <p:cNvCxnSpPr>
            <a:cxnSpLocks/>
          </p:cNvCxnSpPr>
          <p:nvPr/>
        </p:nvCxnSpPr>
        <p:spPr>
          <a:xfrm flipV="1">
            <a:off x="4077407" y="4869124"/>
            <a:ext cx="5523793" cy="6935"/>
          </a:xfrm>
          <a:prstGeom prst="line">
            <a:avLst/>
          </a:prstGeom>
          <a:ln w="730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3F328E9A-0234-A9A0-D8FF-0A323AFC3C15}"/>
              </a:ext>
            </a:extLst>
          </p:cNvPr>
          <p:cNvSpPr/>
          <p:nvPr/>
        </p:nvSpPr>
        <p:spPr>
          <a:xfrm>
            <a:off x="-23824" y="12280739"/>
            <a:ext cx="9623632" cy="5208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35B3F0-4549-ABFA-397F-A9F89D13DBAA}"/>
              </a:ext>
            </a:extLst>
          </p:cNvPr>
          <p:cNvSpPr txBox="1"/>
          <p:nvPr/>
        </p:nvSpPr>
        <p:spPr>
          <a:xfrm>
            <a:off x="5335929" y="12280739"/>
            <a:ext cx="42938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Bindhiya T </a:t>
            </a:r>
            <a:r>
              <a:rPr lang="en-US" sz="1600"/>
              <a:t>– 1GA21AI013) </a:t>
            </a:r>
            <a:endParaRPr lang="en-IN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9621BF-D1E7-BC6B-8468-3DDD8CD8E39E}"/>
              </a:ext>
            </a:extLst>
          </p:cNvPr>
          <p:cNvSpPr txBox="1"/>
          <p:nvPr/>
        </p:nvSpPr>
        <p:spPr>
          <a:xfrm>
            <a:off x="0" y="10273901"/>
            <a:ext cx="530600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RESULTS: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 Attention U-Net model achieved a remarkable binary accuracy of 99.56% at epoch 20.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This high accuracy underscores the model’s effectiveness in binary classification tasks, highlighting its robustness and precision in segmentation tasks.</a:t>
            </a:r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04AF43B-4278-EA36-E34C-0EB2C1A8426A}"/>
              </a:ext>
            </a:extLst>
          </p:cNvPr>
          <p:cNvCxnSpPr/>
          <p:nvPr/>
        </p:nvCxnSpPr>
        <p:spPr>
          <a:xfrm>
            <a:off x="5241940" y="10273901"/>
            <a:ext cx="0" cy="2006838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1147780-0385-4431-28DC-B417DFB80CC8}"/>
              </a:ext>
            </a:extLst>
          </p:cNvPr>
          <p:cNvSpPr txBox="1"/>
          <p:nvPr/>
        </p:nvSpPr>
        <p:spPr>
          <a:xfrm>
            <a:off x="5241940" y="10273901"/>
            <a:ext cx="4402056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CONCLUSION: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 dirty="0"/>
              <a:t>The Hybrid model outperforms existing state-of-the-art methods in terms of accuracy, robustness, and efficiency.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 dirty="0"/>
              <a:t>Useful for early lung cancer detection, ultimately aiming to improve patient outcomes and assist clinicians.</a:t>
            </a:r>
            <a:endParaRPr lang="en-IN" sz="1700" dirty="0"/>
          </a:p>
        </p:txBody>
      </p:sp>
    </p:spTree>
    <p:extLst>
      <p:ext uri="{BB962C8B-B14F-4D97-AF65-F5344CB8AC3E}">
        <p14:creationId xmlns:p14="http://schemas.microsoft.com/office/powerpoint/2010/main" val="1864963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107</TotalTime>
  <Words>257</Words>
  <Application>Microsoft Office PowerPoint</Application>
  <PresentationFormat>A3 Paper (297x420 mm)</PresentationFormat>
  <Paragraphs>20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Bindhiya Thyagaraj</dc:creator>
  <cp:lastModifiedBy>Bindhiya Thyagaraj</cp:lastModifiedBy>
  <cp:revision>3</cp:revision>
  <dcterms:created xsi:type="dcterms:W3CDTF">2024-08-18T14:16:27Z</dcterms:created>
  <dcterms:modified xsi:type="dcterms:W3CDTF">2025-01-18T06:25:44Z</dcterms:modified>
</cp:coreProperties>
</file>